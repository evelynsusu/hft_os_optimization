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Urbanis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6A294C-CE4A-4B2E-A8A7-83ED6716F80A}">
  <a:tblStyle styleId="{0A6A294C-CE4A-4B2E-A8A7-83ED6716F8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Urbanist-bold.fntdata"/><Relationship Id="rId14" Type="http://schemas.openxmlformats.org/officeDocument/2006/relationships/slide" Target="slides/slide8.xml"/><Relationship Id="rId36" Type="http://schemas.openxmlformats.org/officeDocument/2006/relationships/font" Target="fonts/Urbanist-regular.fntdata"/><Relationship Id="rId17" Type="http://schemas.openxmlformats.org/officeDocument/2006/relationships/slide" Target="slides/slide11.xml"/><Relationship Id="rId39" Type="http://schemas.openxmlformats.org/officeDocument/2006/relationships/font" Target="fonts/Urbanist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2e8c189a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72e8c189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ca8ebee16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ca8ebee16_4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72e8c189a_7_0)">
  <p:cSld name="Generated (g3e72e8c189a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2.png"/><Relationship Id="rId13" Type="http://schemas.openxmlformats.org/officeDocument/2006/relationships/image" Target="../media/image10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5" Type="http://schemas.openxmlformats.org/officeDocument/2006/relationships/image" Target="../media/image13.png"/><Relationship Id="rId1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9" Type="http://schemas.openxmlformats.org/officeDocument/2006/relationships/image" Target="../media/image42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32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43.png"/><Relationship Id="rId6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2150" y="3714975"/>
            <a:ext cx="5199100" cy="11768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1450419" y="1966019"/>
            <a:ext cx="929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Jitter Busters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2286000" y="2948880"/>
            <a:ext cx="7620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Standard Ubuntu for Low-Latency High-Frequency Trading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4410739" y="3964333"/>
            <a:ext cx="4152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Members:</a:t>
            </a:r>
            <a:endParaRPr sz="1833"/>
          </a:p>
        </p:txBody>
      </p:sp>
      <p:sp>
        <p:nvSpPr>
          <p:cNvPr id="90" name="Google Shape;90;p14"/>
          <p:cNvSpPr txBox="1"/>
          <p:nvPr/>
        </p:nvSpPr>
        <p:spPr>
          <a:xfrm>
            <a:off x="4410739" y="4323370"/>
            <a:ext cx="4151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1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金融四 溫亮達 | 國貿四 駱宥驊 | 經濟四 蘇芷儀</a:t>
            </a:r>
            <a:endParaRPr sz="1833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Table of Contents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1485900" y="1893837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Introduction to High-Frequency Trading (HFT)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485900" y="2545258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Role of Operating Systems in HFT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485900" y="3196679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Optimizing Standard Ubuntu for Low Latency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485900" y="3848100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Experimental Design &amp; Methodology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485900" y="4499520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Results &amp; Performance Analysis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485900" y="5150941"/>
            <a:ext cx="1013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Bridging the Gap: Academic vs. Industrial Standards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19128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56430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21572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8671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51857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5169991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571500" y="1524000"/>
            <a:ext cx="5715000" cy="4572000"/>
          </a:xfrm>
          <a:prstGeom prst="roundRect">
            <a:avLst>
              <a:gd fmla="val 4166" name="adj"/>
            </a:avLst>
          </a:prstGeom>
          <a:solidFill>
            <a:srgbClr val="1E293B">
              <a:alpha val="8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476250"/>
            <a:ext cx="11049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Research Goal: Eliminating OS Jitter</a:t>
            </a:r>
            <a:endParaRPr b="1" sz="3600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857250" y="1809750"/>
            <a:ext cx="5143500" cy="4000500"/>
            <a:chOff x="0" y="0"/>
            <a:chExt cx="5143500" cy="4000500"/>
          </a:xfrm>
        </p:grpSpPr>
        <p:sp>
          <p:nvSpPr>
            <p:cNvPr id="117" name="Google Shape;117;p16"/>
            <p:cNvSpPr txBox="1"/>
            <p:nvPr/>
          </p:nvSpPr>
          <p:spPr>
            <a:xfrm>
              <a:off x="0" y="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rPr>
                <a:t>Explain </a:t>
              </a:r>
              <a:r>
                <a:rPr b="1" lang="en-US" sz="2200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rPr>
                <a:t>The OS-HFT Connection</a:t>
              </a:r>
              <a:endParaRPr b="1" sz="22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0" y="476250"/>
              <a:ext cx="514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The Operating System is the hidden bottleneck. It sits between strategy logic and hardware, where every layer adds critical microsecond-level delays.</a:t>
              </a:r>
              <a:endParaRPr b="0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161925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rPr>
                <a:t>Experimental Objective</a:t>
              </a:r>
              <a:endParaRPr b="1" sz="22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0" y="2095500"/>
              <a:ext cx="5143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Systematically strip away OS privileges to push network latency to its physical limits.</a:t>
              </a:r>
              <a:endParaRPr b="0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Demonstrate how iterative tuning (Kernel bypass, Core isolation) minimizes jitter in a VM environment.</a:t>
              </a:r>
              <a:endParaRPr b="0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0" y="3619500"/>
              <a:ext cx="3002700" cy="381000"/>
              <a:chOff x="0" y="0"/>
              <a:chExt cx="3002700" cy="381000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0" y="0"/>
                <a:ext cx="30027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10B981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 txBox="1"/>
              <p:nvPr/>
            </p:nvSpPr>
            <p:spPr>
              <a:xfrm>
                <a:off x="95225" y="95250"/>
                <a:ext cx="2623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Ultimate</a:t>
                </a:r>
                <a:r>
                  <a:rPr b="1" lang="en-US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-US" sz="1400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Target: Zero Jitter</a:t>
                </a:r>
                <a:endParaRPr b="1" sz="14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descr="A high-tech, cinematic visualization of digital signals being streamlined through a series of filters, glowing blue and green light trails representing low-latency data flow, dark futuristic background.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3122" r="3131" t="0"/>
          <a:stretch/>
        </p:blipFill>
        <p:spPr>
          <a:xfrm>
            <a:off x="6667500" y="1714500"/>
            <a:ext cx="4762500" cy="3810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6667500" y="1714500"/>
            <a:ext cx="4762500" cy="3810000"/>
          </a:xfrm>
          <a:prstGeom prst="roundRect">
            <a:avLst>
              <a:gd fmla="val 4000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0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" y="5718950"/>
            <a:ext cx="5692700" cy="5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08000" y="43117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What is High-Frequency Trading (HFT)?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96900" y="1104800"/>
            <a:ext cx="5286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HFT is a specialized form of algorithmic trading characterized by high speeds, high turnover rates, and high order-to-trade ratios. It leverages advanced technology to execute thousands of orders in fractions of a second.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36200" y="2429423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Core Characteristics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323975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39800" y="2826135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Ultra-Low Latency: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Success depends on microsecond execution to beat competitors.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39800" y="3565216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Market Making: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HFT firms act as passive liquidity providers, earning small margins on high volumes.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39800" y="4304296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Short-Term Horizon: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Positions held for seconds/minutes; zero net exposure at day's end.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39800" y="5043377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Volume-Based: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Decisions triggered by "volume bursts" rather than clock-time.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01050" y="5925325"/>
            <a:ext cx="5339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Fact: HFT accounts for over 70% of U.S. equity market volume.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900" y="284518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900" y="358426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900" y="432334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900" y="506242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Simple HFT Strategy: Cross-Exchange Arbitrage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Concept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70497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Identify price discrepancies for the same asset across two different trading venues (Exchanges A and B) and exploit the gap before it vanishes.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87074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Execution Loop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621759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"Arbitrage accounts for a major portion of HFT volume, ensuring market efficiency by aligning prices globally within milliseconds."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23975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14400" y="326127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1: Monitoring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- Continuously poll Order Books via ultra-fast binary protocols.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14400" y="400035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2: Signal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- Detected price gap: Price_A &lt; Price_B (spread &gt; transaction costs).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14400" y="473943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3: Action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- Simultaneously Buy on A and Sell on B in under 100 microseconds.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14400" y="547851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4: Hedge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- Neutralize exposure immediately to secure risk-free profit.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803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940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848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9756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7322641"/>
            <a:ext cx="11049000" cy="101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167275"/>
            <a:ext cx="5381625" cy="257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167275"/>
            <a:ext cx="5381625" cy="257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32795"/>
            <a:ext cx="5381625" cy="2718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4032795"/>
            <a:ext cx="5381625" cy="271834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Essential Elements of an HFT System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1323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66775" y="2085975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 Strategy &amp; Algorithm Logic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2476500"/>
            <a:ext cx="4791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Quantitative models identifying micro-arbitrage or market-making opportunities. Decisions must be automated and data-driven.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1323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6534150" y="2085975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2. Bare-Metal Infrastructure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534150" y="2476500"/>
            <a:ext cx="47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High-frequency CPUs (overclocked) and specialized NICs (Solarflare) for sub-microsecond packet processing.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3280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66775" y="5090070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3. Proximity &amp; Connectivity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38" y="5536783"/>
            <a:ext cx="47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Colocation in exchange data centers to minimize physical distance; using binary multicast feeds (ITCH/PITCH).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43280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534150" y="5090070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 Software &amp; OS Optimization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34113" y="5557770"/>
            <a:ext cx="4791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Kernel bypass (DPDK), core isolation, and "spinning" loops to eliminate context switching and OS jitter.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This is where OS helps!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966912" y="7875091"/>
            <a:ext cx="11144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Tick-to-Trade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458063" y="7513141"/>
            <a:ext cx="1390173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10Gbps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491162" y="7875091"/>
            <a:ext cx="13239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NIC Throughput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199959" y="7513141"/>
            <a:ext cx="1050131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Urbanist"/>
                <a:ea typeface="Urbanist"/>
                <a:cs typeface="Urbanist"/>
                <a:sym typeface="Urbanist"/>
              </a:rPr>
              <a:t>Zero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224962" y="7875091"/>
            <a:ext cx="10001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Jitter Target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9175" y="1476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86550" y="1476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9175" y="44804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00837" y="4480470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Democratic HFT: How Small Players Compete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Targeting "Long-Tail" Niche Markets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17049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Focus on smaller symbols and scale strategies that institutional giants overlook due to high overhead costs.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244405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Deep Software-Level Optimization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283458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Micro-optimization of network stacks and OS kernels saves microseconds where hardware alone only saves nanoseconds.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57366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Reduced Computational Load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396418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Monitoring 5 targeted symbols instead of 500 allows for significantly lower processing latency and higher response speed.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497755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Information Asymmetry over Speed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536808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Leveraging "private fills" and modeling predictable big-firm behaviors allows profit without needing absolute top-tier speed.</a:t>
            </a:r>
            <a:endParaRPr/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1300" y="1973549"/>
            <a:ext cx="6012027" cy="3607874"/>
          </a:xfrm>
          <a:prstGeom prst="rect">
            <a:avLst/>
          </a:prstGeom>
          <a:solidFill>
            <a:srgbClr val="EEEBE2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4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25" y="1981200"/>
            <a:ext cx="34924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0775" y="1981200"/>
            <a:ext cx="3492549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9075" y="1981200"/>
            <a:ext cx="34924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25" y="4267200"/>
            <a:ext cx="34924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0775" y="4267200"/>
            <a:ext cx="72707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900" y="5972175"/>
            <a:ext cx="29018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Role of OS in HFT: Optimization Targets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82625" y="102870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OS is the hidden bottleneck. A trade decision must be executed within microseconds. The OS sits between your strategy logic and the hardware—every layer it adds costs time.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7900" y="2276475"/>
            <a:ext cx="304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 Real-Time Kernel (PREEMPT_RT)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77900" y="2847975"/>
            <a:ext cx="2901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Ensures the trading thread always gets the CPU immediately, without being preempted by system tasks.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556050" y="2276475"/>
            <a:ext cx="304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2. Core Isolation (CPU Pinning)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556050" y="2619375"/>
            <a:ext cx="2901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Dedicated CPU cores are reserved exclusively for the trading process—no other task may enter.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334350" y="2276475"/>
            <a:ext cx="304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3. Tickless Mode (nohz_full)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334350" y="2619375"/>
            <a:ext cx="290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Disables timer interrupts on isolated cores, eliminating periodic jitter entirely.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7900" y="4562475"/>
            <a:ext cx="30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4. Kernel Bypass (DPDK/OpenOnload)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77900" y="5133975"/>
            <a:ext cx="2901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 packets go directly from NIC to userspace, skipping the OS network stack. Reduces latency: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556050" y="4562475"/>
            <a:ext cx="70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5. Memory Locking (mlockall + HugePages)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4556050" y="4905375"/>
            <a:ext cx="6680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All trading memory is pinned in RAM. No page faults, no swapping to disk.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9975" y="6011475"/>
            <a:ext cx="1196578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2150" y="1455687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595437" y="2312937"/>
            <a:ext cx="9001125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"Break the fairness principles of a general-purpose OS and forge an extreme, dictatorial performance beast."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809750" y="4244429"/>
            <a:ext cx="857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standard Linux system is riddled with context switches, page faults, and network stack overhead. This project applies kernel-level modifications to strip Ubuntu down to the bone for microsecond-level trading.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3575" y="3438525"/>
            <a:ext cx="25908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3438525"/>
            <a:ext cx="1952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3438525"/>
            <a:ext cx="34004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19050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725453" y="2667000"/>
            <a:ext cx="874109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Standard Linux Design Flaws for HFT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933575" y="4495800"/>
            <a:ext cx="832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optimization stripped these away to forge an extreme performance environment.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2278856" y="3638550"/>
            <a:ext cx="19002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Context Switches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076110" y="3638550"/>
            <a:ext cx="12301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D34D"/>
                </a:solidFill>
                <a:latin typeface="Urbanist"/>
                <a:ea typeface="Urbanist"/>
                <a:cs typeface="Urbanist"/>
                <a:sym typeface="Urbanist"/>
              </a:rPr>
              <a:t>Page Faults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183040" y="3638550"/>
            <a:ext cx="27503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Network Stack Overhead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11049000" cy="513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Design of Experiments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962025" y="1704975"/>
            <a:ext cx="107813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Main Goal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962025" y="2219325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Systematically strip away OS privileges to push network latency to its physical limits and achieve zero jitter.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962025" y="2905125"/>
            <a:ext cx="107813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Architecture Setup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962025" y="5088135"/>
            <a:ext cx="107813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Evaluation Metrics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62025" y="5602485"/>
            <a:ext cx="1026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Average RTT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(Round Trip Time) and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P99 RTT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(the time within which 99% of packets are processed).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17335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337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1304925" y="3419475"/>
            <a:ext cx="9925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Isolated Network: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Established an isolated Internal Network to eliminate external broadcasts and background noise.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304925" y="3884275"/>
            <a:ext cx="102678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Ping-Pong Testing: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Client: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Acts as the sender (eg. exchange</a:t>
            </a:r>
            <a:r>
              <a:rPr lang="en-US" sz="13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’s server sending prices info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), firing packets in micro-bursts and recording the RTT.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Server: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Acts as trader</a:t>
            </a:r>
            <a:r>
              <a:rPr lang="en-US" sz="13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’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 HFT receiver where our OS modifications were applied.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51167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4385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903315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4" y="-14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692375" y="4343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Round Trip Time (RTT)</a:t>
            </a:r>
            <a:endParaRPr/>
          </a:p>
        </p:txBody>
      </p:sp>
      <p:pic>
        <p:nvPicPr>
          <p:cNvPr id="284" name="Google Shape;2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375" y="1777000"/>
            <a:ext cx="9372537" cy="45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619125" y="1044175"/>
            <a:ext cx="1012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RTT (Round Trip Time) is the total duration from the moment a data packet is sent from the client, until the corresponding acknowledgment or response is received back by that client.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1493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98440"/>
            <a:ext cx="5286375" cy="149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0: Baseline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Architecture Setup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71500" y="383842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Design Purpose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571500" y="422895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Establish a control group to measure unmodified performance.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914400" y="1704975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Dual-Machine: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Two Ubuntu Desktop (GUI) virtual machines.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914438" y="212208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Protocol: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Standard C++ UDP Sockets for Ping-Pong testing.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914438" y="2586870"/>
            <a:ext cx="4943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 Management: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Relies on high-level NetworkManager.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677025" y="1600200"/>
            <a:ext cx="4657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AVERAGE RTT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677025" y="3284190"/>
            <a:ext cx="4657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P99 RTT</a:t>
            </a:r>
            <a:endParaRPr/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24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38" y="214113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38" y="26059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245965"/>
            <a:ext cx="1028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929955"/>
            <a:ext cx="11525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1: Pure Server Version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Adjustments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571500" y="309934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Design Purpose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914400" y="170497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 Replacement: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Abandoned Desktop GUI; rebuilt two text-only Ubuntu Servers.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914400" y="2444055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 Downgrade: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Switched to the lightweight networkd.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914400" y="348987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Eliminate Noise: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GUI and bloated services generate massive Context Switches and hardware interrupts.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914400" y="422895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Protect Resources: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Prevent CPU resources from being randomly hijacked by the system.</a:t>
            </a:r>
            <a:endParaRPr/>
          </a:p>
        </p:txBody>
      </p:sp>
      <p:graphicFrame>
        <p:nvGraphicFramePr>
          <p:cNvPr id="320" name="Google Shape;320;p27"/>
          <p:cNvGraphicFramePr/>
          <p:nvPr/>
        </p:nvGraphicFramePr>
        <p:xfrm>
          <a:off x="6343650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{0A6A294C-CE4A-4B2E-A8A7-83ED6716F80A}</a:tableStyleId>
              </a:tblPr>
              <a:tblGrid>
                <a:gridCol w="1190625"/>
                <a:gridCol w="1317425"/>
                <a:gridCol w="1371900"/>
                <a:gridCol w="13683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Avg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P99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Max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3527.84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21802.33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97642.6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1977.96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7059.63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125567.0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21" name="Google Shape;32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24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310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89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8001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/>
          <p:nvPr/>
        </p:nvSpPr>
        <p:spPr>
          <a:xfrm>
            <a:off x="6362700" y="2019300"/>
            <a:ext cx="11906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7553325" y="2019300"/>
            <a:ext cx="131742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8870751" y="2019300"/>
            <a:ext cx="137189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0242649" y="2019300"/>
            <a:ext cx="13683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8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2: CPU Core Isolation &amp; Pinning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Adjustments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571500" y="383842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Design Purpose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71500" y="4228951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Standard Linux bounces tasks between cores, causing CPU cache (L1/L2) invalidation. Core pinning gives the HFT program a "VIP Suite" with exclusive resources.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914400" y="1704975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Kernel: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Installed linux-lowlatency kernel.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914400" y="216976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OS Isolation: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Modified GRUB (isolcpus) to remove Core 2 and 3 from the OS scheduler.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914400" y="290884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Program Binding: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Added sched_setaffinity to force Server program exclusively on Core 2.</a:t>
            </a:r>
            <a:endParaRPr/>
          </a:p>
        </p:txBody>
      </p:sp>
      <p:graphicFrame>
        <p:nvGraphicFramePr>
          <p:cNvPr id="342" name="Google Shape;342;p28"/>
          <p:cNvGraphicFramePr/>
          <p:nvPr/>
        </p:nvGraphicFramePr>
        <p:xfrm>
          <a:off x="6343650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{0A6A294C-CE4A-4B2E-A8A7-83ED6716F80A}</a:tableStyleId>
              </a:tblPr>
              <a:tblGrid>
                <a:gridCol w="1448100"/>
                <a:gridCol w="1888325"/>
                <a:gridCol w="1911850"/>
              </a:tblGrid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Avg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P99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3527.84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21802.33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1977.96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7059.63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1752.06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6813.96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43" name="Google Shape;34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24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8881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27895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/>
          <p:nvPr/>
        </p:nvSpPr>
        <p:spPr>
          <a:xfrm>
            <a:off x="6362700" y="1819275"/>
            <a:ext cx="144809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7810797" y="1819275"/>
            <a:ext cx="188833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9699128" y="1819275"/>
            <a:ext cx="191184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3: Memory Locking &amp; HugePages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Adjustments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571500" y="337363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Design Purpose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914400" y="170497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 Level: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Forcibly disabled Swap (swapoff -a) and enabled 512 2MB HugePages.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914400" y="244405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Program Level: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Added mlockall function and executed with Root privileges.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914400" y="376416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Eradicate Page Faults: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Moving memory to Swap spikes latency to milliseconds.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914400" y="450324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Lock Physical RAM: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Data always remains in fastest memory.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914400" y="524232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Accelerate Lookups: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HugePages reduce TLB Misses (CPU dictionary lookups).</a:t>
            </a:r>
            <a:endParaRPr/>
          </a:p>
        </p:txBody>
      </p:sp>
      <p:graphicFrame>
        <p:nvGraphicFramePr>
          <p:cNvPr id="363" name="Google Shape;363;p29"/>
          <p:cNvGraphicFramePr/>
          <p:nvPr/>
        </p:nvGraphicFramePr>
        <p:xfrm>
          <a:off x="6343650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{0A6A294C-CE4A-4B2E-A8A7-83ED6716F80A}</a:tableStyleId>
              </a:tblPr>
              <a:tblGrid>
                <a:gridCol w="1448100"/>
                <a:gridCol w="1888325"/>
                <a:gridCol w="1911850"/>
              </a:tblGrid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Avg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P99 RTT (μs)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1977.96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7059.63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1752.06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6813.96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1584.01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5191.88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64" name="Google Shape;36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24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310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321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2229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61371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/>
          <p:nvPr/>
        </p:nvSpPr>
        <p:spPr>
          <a:xfrm>
            <a:off x="6362700" y="1819275"/>
            <a:ext cx="144809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7810797" y="1819275"/>
            <a:ext cx="188833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9699128" y="1819275"/>
            <a:ext cx="191184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96457"/>
            <a:ext cx="52863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Phase 4: AF_XDP Kernel Bypass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571500" y="3722191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Design Purpose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571500" y="4112716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Standard Linux TCP/IP stack is too thick. We achieved Zero-copy, allowing packets to reach User Space directly, completely eliminating OS intervention.</a:t>
            </a:r>
            <a:endParaRPr/>
          </a:p>
        </p:txBody>
      </p:sp>
      <p:pic>
        <p:nvPicPr>
          <p:cNvPr descr="image.png" id="382" name="Google Shape;38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323975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0"/>
          <p:cNvSpPr txBox="1"/>
          <p:nvPr/>
        </p:nvSpPr>
        <p:spPr>
          <a:xfrm>
            <a:off x="914400" y="1314450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Hardware: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Switched to eBPF-supported virtio-net.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914400" y="1779240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Static ARP Binding (breaks "ARP Blackhole").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914400" y="224403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Software: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Abandoned Sockets; used libxdp for UMEM. Custom C logic to parse headers and swap MAC/IP.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914400" y="298311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Defense: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Microsecond braking (usleep) &amp; Timeout fault tolerance to prevent virtual NIC overflow.</a:t>
            </a:r>
            <a:endParaRPr/>
          </a:p>
        </p:txBody>
      </p:sp>
      <p:graphicFrame>
        <p:nvGraphicFramePr>
          <p:cNvPr id="387" name="Google Shape;387;p30"/>
          <p:cNvGraphicFramePr/>
          <p:nvPr/>
        </p:nvGraphicFramePr>
        <p:xfrm>
          <a:off x="581025" y="5005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{0A6A294C-CE4A-4B2E-A8A7-83ED6716F80A}</a:tableStyleId>
              </a:tblPr>
              <a:tblGrid>
                <a:gridCol w="1588600"/>
                <a:gridCol w="1815550"/>
                <a:gridCol w="1844125"/>
              </a:tblGrid>
              <a:tr h="5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1584.01 μs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5191.88 μs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961.31 μs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1774.26 μs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88" name="Google Shape;38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3335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79829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26308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0216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Results: RTT Latency Trend (VM Environment)</a:t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4605337" y="5853112"/>
            <a:ext cx="190500" cy="38100"/>
          </a:xfrm>
          <a:prstGeom prst="rect">
            <a:avLst/>
          </a:prstGeom>
          <a:solidFill>
            <a:srgbClr val="8B5CF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4872037" y="57912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P99 RTT (Tail Latency)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6500812" y="5853112"/>
            <a:ext cx="190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6767512" y="5791200"/>
            <a:ext cx="819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Average RTT</a:t>
            </a:r>
            <a:endParaRPr/>
          </a:p>
        </p:txBody>
      </p:sp>
      <p:pic>
        <p:nvPicPr>
          <p:cNvPr id="402" name="Google Shape;4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70475"/>
            <a:ext cx="9881288" cy="53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7" name="Google Shape;4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62251"/>
            <a:ext cx="5286375" cy="834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83990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Troubleshooting - Why a Single-VM Setup Failed</a:t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Loopback Illusion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571500" y="170497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Testing on a single machine is merely a memory copy. It bypasses real/virtual NIC drivers, making it impossible to validate AF_XDP hardware queue operations.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571500" y="287074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Resource Contention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571500" y="326127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Placing the sender and receiver on the same VM causes them to fight for CPU and interrupt processing.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6334125" y="131445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Failed Single-VM Data (Notice the escalating jitter)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752475" y="4105126"/>
            <a:ext cx="49625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A5A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resulting "self-inflicted" jitter completely masks the true gains of the optimizations.</a:t>
            </a:r>
            <a:endParaRPr/>
          </a:p>
        </p:txBody>
      </p:sp>
      <p:graphicFrame>
        <p:nvGraphicFramePr>
          <p:cNvPr id="417" name="Google Shape;417;p32"/>
          <p:cNvGraphicFramePr/>
          <p:nvPr/>
        </p:nvGraphicFramePr>
        <p:xfrm>
          <a:off x="6343650" y="16935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{0A6A294C-CE4A-4B2E-A8A7-83ED6716F80A}</a:tableStyleId>
              </a:tblPr>
              <a:tblGrid>
                <a:gridCol w="1190625"/>
                <a:gridCol w="1319500"/>
                <a:gridCol w="1334100"/>
                <a:gridCol w="1423100"/>
              </a:tblGrid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Scenario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Avg RTT (μs)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P99 RTT (μs)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Max RTT (μs)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101.88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346.25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1721.88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312.71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3373.72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54308.70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1623.15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6792.73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37657.30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Phase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1523.60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9037.76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241080.00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32"/>
          <p:cNvSpPr/>
          <p:nvPr/>
        </p:nvSpPr>
        <p:spPr>
          <a:xfrm>
            <a:off x="6343650" y="2388840"/>
            <a:ext cx="11906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7534275" y="2388840"/>
            <a:ext cx="131951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8853785" y="2388840"/>
            <a:ext cx="133409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10187880" y="2388840"/>
            <a:ext cx="142309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Bridging the Gap: Academic vs. Industrial</a:t>
            </a:r>
            <a:endParaRPr/>
          </a:p>
        </p:txBody>
      </p:sp>
      <p:sp>
        <p:nvSpPr>
          <p:cNvPr id="429" name="Google Shape;429;p33"/>
          <p:cNvSpPr txBox="1"/>
          <p:nvPr/>
        </p:nvSpPr>
        <p:spPr>
          <a:xfrm>
            <a:off x="571500" y="1314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Our Project (VM Environment)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571500" y="27717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Industrial HFT (Bare-Metal)</a:t>
            </a:r>
            <a:endParaRPr/>
          </a:p>
        </p:txBody>
      </p:sp>
      <p:pic>
        <p:nvPicPr>
          <p:cNvPr descr="image.png" id="431" name="Google Shape;43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23975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3"/>
          <p:cNvSpPr txBox="1"/>
          <p:nvPr/>
        </p:nvSpPr>
        <p:spPr>
          <a:xfrm>
            <a:off x="914400" y="1704975"/>
            <a:ext cx="494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Used Virtual Machines for experimental flexibility.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914400" y="2124075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Hypervisor Latency: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The abstraction layer introduces unavoidable micro-delays and jitter.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914400" y="31623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Hardware: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Liquid-cooled, overclocked Bare-Metal (e.g., all cores locked at 5.5GHz+).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914400" y="38100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Deep BIOS Tuning: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C-States disabled (no wake-up latency), Hyper-Threading OFF (prevents cache pollution), strict NUMA binding.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914400" y="4457700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Hardware-Level Bypass: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AMD Solarflare NICs map hardware directly to C++ memory. FPGAs bake trading logic directly into programmable NIC chips—executing in nanoseconds.</a:t>
            </a:r>
            <a:endParaRPr/>
          </a:p>
        </p:txBody>
      </p:sp>
      <p:pic>
        <p:nvPicPr>
          <p:cNvPr descr="image.png" id="437" name="Google Shape;43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24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431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813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90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675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4"/>
          <p:cNvSpPr txBox="1"/>
          <p:nvPr/>
        </p:nvSpPr>
        <p:spPr>
          <a:xfrm>
            <a:off x="3620690" y="2137469"/>
            <a:ext cx="49506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4019550" y="3470969"/>
            <a:ext cx="4152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3705225" y="4491930"/>
            <a:ext cx="4781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High-Frequency Trading OS Optimization Project</a:t>
            </a:r>
            <a:endParaRPr/>
          </a:p>
        </p:txBody>
      </p:sp>
      <p:pic>
        <p:nvPicPr>
          <p:cNvPr descr="image.png" id="450" name="Google Shape;45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5225" y="451098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